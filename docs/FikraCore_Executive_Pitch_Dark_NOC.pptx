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FikraCore  |  Dark NOC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966960" y="651052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Pitch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6583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FikraCore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Telecom Intelligence for the Dark NOC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49808" y="195681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</a:rPr>
              <a:t>From operational evidence to explainable decisions, validated learning and reusable telecom knowledge.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" y="2816352"/>
            <a:ext cx="1389888" cy="256032"/>
          </a:xfrm>
          <a:prstGeom prst="roundRect">
            <a:avLst>
              <a:gd name="adj" fmla="val 28571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866644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EXECUTIVE PITCH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67712" y="2816352"/>
            <a:ext cx="1170432" cy="256032"/>
          </a:xfrm>
          <a:prstGeom prst="roundRect">
            <a:avLst>
              <a:gd name="adj" fmla="val 28571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13432" y="286664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DARK NOC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66160" y="281635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866644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TELECOM BRAIN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89320" y="548640"/>
            <a:ext cx="5440680" cy="5376672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pic>
        <p:nvPicPr>
          <p:cNvPr id="14" name="Image 0" descr="/mnt/data/fikra_telecom_intelligence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2472" y="1747141"/>
            <a:ext cx="5294376" cy="297967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9808" y="52395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FikraCore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49808" y="55595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Correlation • Reasoning • Knowledge • Learning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operational problem is not lack of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It is the gap between signals and a trustworthy operational decision.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235440" y="4389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WHY FIKRACORE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3127248" cy="324612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32104" y="1664208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74193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2104" y="222199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Too many signals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2104" y="2670048"/>
            <a:ext cx="2596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Alarms, KPIs, logs, traces, changes and customer impact arrive from different systems.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41648" y="1417320"/>
            <a:ext cx="3127248" cy="324612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9392" y="1664208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9392" y="174193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79392" y="222199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Context is fragmented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79392" y="2670048"/>
            <a:ext cx="2596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The meaningful relationship across domains, services and dependencies is difficult to reconstruct.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88936" y="1417320"/>
            <a:ext cx="3127248" cy="324612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26680" y="1664208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174193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26680" y="222199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Decisions need proof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26680" y="2670048"/>
            <a:ext cx="2596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Operations needs evidence-backed hypotheses, not the first or loudest alarm.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64992" y="2578608"/>
            <a:ext cx="347472" cy="45720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2578608"/>
            <a:ext cx="347472" cy="45720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17320" y="4901184"/>
            <a:ext cx="937260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5148072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FikraCore creates an evidence-backed operational context before the investigation converges.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POC: the first operating layer is already visible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 focused set of customer, incident, trace and voice capabilities.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235440" y="4389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CURRENT POC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59893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pic>
        <p:nvPicPr>
          <p:cNvPr id="6" name="Image 0" descr="/mnt/data/fikracore_poc_coverage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990518"/>
            <a:ext cx="5843016" cy="32884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12280" y="13167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POC COVERED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12280" y="1636776"/>
            <a:ext cx="402336" cy="40233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12280" y="171450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0" y="162763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Customer Ticket Dashboard</a:t>
            </a:r>
            <a:endParaRPr lang="en-US" sz="1180" dirty="0"/>
          </a:p>
        </p:txBody>
      </p:sp>
      <p:sp>
        <p:nvSpPr>
          <p:cNvPr id="11" name="Text 8"/>
          <p:cNvSpPr/>
          <p:nvPr/>
        </p:nvSpPr>
        <p:spPr>
          <a:xfrm>
            <a:off x="7315200" y="187452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Centralized ticket visibility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6812280" y="2276856"/>
            <a:ext cx="402336" cy="40233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12280" y="23545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0" y="226771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Customer Ticket Journey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7315200" y="251460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End-to-end ticket progression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6812280" y="2916936"/>
            <a:ext cx="402336" cy="40233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12280" y="299466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0" y="290779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Incident StoryTeller</a:t>
            </a:r>
            <a:endParaRPr lang="en-US" sz="1180" dirty="0"/>
          </a:p>
        </p:txBody>
      </p:sp>
      <p:sp>
        <p:nvSpPr>
          <p:cNvPr id="19" name="Text 16"/>
          <p:cNvSpPr/>
          <p:nvPr/>
        </p:nvSpPr>
        <p:spPr>
          <a:xfrm>
            <a:off x="7315200" y="315468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Automatic incident narrative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6812280" y="3557016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12280" y="36347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315200" y="354787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TT Q&amp;A Agent</a:t>
            </a:r>
            <a:endParaRPr lang="en-US" sz="1180" dirty="0"/>
          </a:p>
        </p:txBody>
      </p:sp>
      <p:sp>
        <p:nvSpPr>
          <p:cNvPr id="23" name="Text 20"/>
          <p:cNvSpPr/>
          <p:nvPr/>
        </p:nvSpPr>
        <p:spPr>
          <a:xfrm>
            <a:off x="7315200" y="379476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Interactive trouble-ticket Q&amp;A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6812280" y="4197096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12280" y="427482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315200" y="418795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Trace Analyzer</a:t>
            </a:r>
            <a:endParaRPr lang="en-US" sz="1180" dirty="0"/>
          </a:p>
        </p:txBody>
      </p:sp>
      <p:sp>
        <p:nvSpPr>
          <p:cNvPr id="27" name="Text 24"/>
          <p:cNvSpPr/>
          <p:nvPr/>
        </p:nvSpPr>
        <p:spPr>
          <a:xfrm>
            <a:off x="7315200" y="443484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Polystar trace analysis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6812280" y="4837176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12280" y="491490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Interactive Voice Assistant</a:t>
            </a:r>
            <a:endParaRPr lang="en-US" sz="1180" dirty="0"/>
          </a:p>
        </p:txBody>
      </p:sp>
      <p:sp>
        <p:nvSpPr>
          <p:cNvPr id="31" name="Text 28"/>
          <p:cNvSpPr/>
          <p:nvPr/>
        </p:nvSpPr>
        <p:spPr>
          <a:xfrm>
            <a:off x="7315200" y="507492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Voice for story + ticket journey</a:t>
            </a:r>
            <a:endParaRPr lang="en-US" sz="980" dirty="0"/>
          </a:p>
        </p:txBody>
      </p:sp>
      <p:sp>
        <p:nvSpPr>
          <p:cNvPr id="32" name="Shape 29"/>
          <p:cNvSpPr/>
          <p:nvPr/>
        </p:nvSpPr>
        <p:spPr>
          <a:xfrm>
            <a:off x="6720840" y="5559552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E0F2FE"/>
          </a:solidFill>
          <a:ln w="12700">
            <a:solidFill>
              <a:srgbClr val="B8E8F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03720" y="5715000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2563EB"/>
                </a:solidFill>
              </a:rPr>
              <a:t>POC signal: the experience layer is already connected to operational intelligence.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Behind the experience: focused intelligent agents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Each component has a clear responsibility and data path.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235440" y="4389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POC BACKEND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21792" y="1444752"/>
            <a:ext cx="3246120" cy="33832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664208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71450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CURATED INCIDENT NARRATIVE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" y="2157984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</a:rPr>
              <a:t>StoryTeller Agent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41248" y="2743200"/>
            <a:ext cx="2807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E293B"/>
                </a:solidFill>
              </a:rPr>
              <a:t>Traverses FikraCore TelcoBrain to generate context-aware incident stories.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841248" y="4032504"/>
            <a:ext cx="2807208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224528"/>
            <a:ext cx="2807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FikraCore TelcoBrain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33088" y="1444752"/>
            <a:ext cx="3246120" cy="33832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2544" y="1664208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8264" y="171450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HYBRID RETRIEVAL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52544" y="2157984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</a:rPr>
              <a:t>Customer TT Q&amp;A Agent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352544" y="2743200"/>
            <a:ext cx="2807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E293B"/>
                </a:solidFill>
              </a:rPr>
              <a:t>Chroma for semantic retrieval + PostgreSQL for precise structured queries.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4352544" y="4032504"/>
            <a:ext cx="2807208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52544" y="4224528"/>
            <a:ext cx="2807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Chroma + PostgreSQL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44384" y="1444752"/>
            <a:ext cx="3246120" cy="33832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0" y="1664208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0" y="171450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TRACE ANALYZER SKILL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863840" y="2157984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</a:rPr>
              <a:t>Signaling Analyst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863840" y="2743200"/>
            <a:ext cx="2807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E293B"/>
                </a:solidFill>
              </a:rPr>
              <a:t>Visualizes call flows, analyzes Polystar traces and surfaces troubleshooting insight.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7863840" y="4032504"/>
            <a:ext cx="2807208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4224528"/>
            <a:ext cx="2807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Polystar Traces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39312" y="2560320"/>
            <a:ext cx="320040" cy="475488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50608" y="2560320"/>
            <a:ext cx="320040" cy="475488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34440" y="5230368"/>
            <a:ext cx="9738360" cy="612648"/>
          </a:xfrm>
          <a:prstGeom prst="roundRect">
            <a:avLst>
              <a:gd name="adj" fmla="val 1194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00200" y="5440680"/>
            <a:ext cx="900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Specialized agents • clear responsibilities • shared operational context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FikraCore: the Telecom Brain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Operational evidence becomes structured context, reasoning and validated knowledge.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235440" y="4389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FIKRACORE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pic>
        <p:nvPicPr>
          <p:cNvPr id="6" name="Image 0" descr="/mnt/data/fikracore_telecom_brain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241" y="1307592"/>
            <a:ext cx="9001039" cy="50657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investigation follows a disciplined execution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backend flow remains the source of truth for the experience.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235440" y="4389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EXECUTION FLOW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52" y="1554480"/>
            <a:ext cx="1298448" cy="349300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828800"/>
            <a:ext cx="493776" cy="49377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3852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6656" y="25786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Telemetry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76656" y="2971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INGESTION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79092" y="2880360"/>
            <a:ext cx="256032" cy="384048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56816" y="1554480"/>
            <a:ext cx="1298448" cy="349300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59152" y="1828800"/>
            <a:ext cx="493776" cy="4937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193852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25786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Correlation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103120" y="2971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LAYER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05556" y="2880360"/>
            <a:ext cx="256032" cy="384048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1554480"/>
            <a:ext cx="1298448" cy="349300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85616" y="1828800"/>
            <a:ext cx="493776" cy="49377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85616" y="193852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29584" y="25786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Hypothesis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529584" y="2971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GENERATION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32020" y="2880360"/>
            <a:ext cx="256032" cy="384048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1554480"/>
            <a:ext cx="1298448" cy="349300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12080" y="1828800"/>
            <a:ext cx="493776" cy="493776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93852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56048" y="25786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Hypothesis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956048" y="2971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TESTING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58484" y="2880360"/>
            <a:ext cx="256032" cy="384048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6208" y="1554480"/>
            <a:ext cx="1298448" cy="349300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38544" y="1828800"/>
            <a:ext cx="493776" cy="49377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193852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82512" y="25786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Convergence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382512" y="2971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+ GAP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584948" y="2880360"/>
            <a:ext cx="256032" cy="384048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62672" y="1554480"/>
            <a:ext cx="1298448" cy="349300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65008" y="1828800"/>
            <a:ext cx="493776" cy="49377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65008" y="193852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808976" y="25786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Domain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808976" y="2971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ATTRIBUTION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011412" y="2880360"/>
            <a:ext cx="256032" cy="384048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89136" y="1554480"/>
            <a:ext cx="1298448" cy="349300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491472" y="1828800"/>
            <a:ext cx="493776" cy="4937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91472" y="193852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235440" y="25786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Evidence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9235440" y="2971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+ VALIDATION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0437876" y="2880360"/>
            <a:ext cx="256032" cy="384048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15600" y="1554480"/>
            <a:ext cx="1298448" cy="349300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0917936" y="1828800"/>
            <a:ext cx="493776" cy="49377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17936" y="193852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661904" y="25786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Knowledge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0661904" y="2971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PROMOTION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60120" y="5422392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C7E4F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234440" y="5577840"/>
            <a:ext cx="9646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2563EB"/>
                </a:solidFill>
              </a:rPr>
              <a:t>The operator sees one investigation, while FikraCore performs the underlying analytical work.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Correlation before 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Four dimensions turn fragmented evidence into a bounded causal envelope.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235440" y="4389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CORRELATION LAYER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74066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pic>
        <p:nvPicPr>
          <p:cNvPr id="6" name="Image 0" descr="/mnt/data/fikracore_correlation_layer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701413"/>
            <a:ext cx="7260336" cy="40861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83880" y="1417320"/>
            <a:ext cx="3246120" cy="4498848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58200" y="16916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EXECUTIVE READOUT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439912" y="2011680"/>
            <a:ext cx="402336" cy="40233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39912" y="208940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942832" y="20025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Temporal &amp; Identity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942832" y="221284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</a:rPr>
              <a:t>Sequence, freshness, canonicalization</a:t>
            </a:r>
            <a:endParaRPr lang="en-US" sz="890" dirty="0"/>
          </a:p>
        </p:txBody>
      </p:sp>
      <p:sp>
        <p:nvSpPr>
          <p:cNvPr id="13" name="Shape 10"/>
          <p:cNvSpPr/>
          <p:nvPr/>
        </p:nvSpPr>
        <p:spPr>
          <a:xfrm>
            <a:off x="8439912" y="281635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39912" y="289407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942832" y="2807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Topological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942832" y="30175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</a:rPr>
              <a:t>Dependency and path relationships</a:t>
            </a:r>
            <a:endParaRPr lang="en-US" sz="890" dirty="0"/>
          </a:p>
        </p:txBody>
      </p:sp>
      <p:sp>
        <p:nvSpPr>
          <p:cNvPr id="17" name="Shape 14"/>
          <p:cNvSpPr/>
          <p:nvPr/>
        </p:nvSpPr>
        <p:spPr>
          <a:xfrm>
            <a:off x="8439912" y="3621024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39912" y="369874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42832" y="36118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Cross-Domain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942832" y="38221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</a:rPr>
              <a:t>Operational lenses across domains</a:t>
            </a:r>
            <a:endParaRPr lang="en-US" sz="890" dirty="0"/>
          </a:p>
        </p:txBody>
      </p:sp>
      <p:sp>
        <p:nvSpPr>
          <p:cNvPr id="21" name="Shape 18"/>
          <p:cNvSpPr/>
          <p:nvPr/>
        </p:nvSpPr>
        <p:spPr>
          <a:xfrm>
            <a:off x="8439912" y="4425696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39912" y="450342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942832" y="44165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Service &amp; Blast Radius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942832" y="462686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</a:rPr>
              <a:t>Impact boundary and noise isolation</a:t>
            </a:r>
            <a:endParaRPr lang="en-US" sz="890" dirty="0"/>
          </a:p>
        </p:txBody>
      </p:sp>
      <p:sp>
        <p:nvSpPr>
          <p:cNvPr id="25" name="Shape 22"/>
          <p:cNvSpPr/>
          <p:nvPr/>
        </p:nvSpPr>
        <p:spPr>
          <a:xfrm>
            <a:off x="8430768" y="5166360"/>
            <a:ext cx="2724912" cy="438912"/>
          </a:xfrm>
          <a:prstGeom prst="roundRect">
            <a:avLst>
              <a:gd name="adj" fmla="val 16667"/>
            </a:avLst>
          </a:prstGeom>
          <a:solidFill>
            <a:srgbClr val="F3E8FF"/>
          </a:solidFill>
          <a:ln w="12700">
            <a:solidFill>
              <a:srgbClr val="E2D0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0496" y="5294376"/>
            <a:ext cx="2505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8B5CF6"/>
                </a:solidFill>
              </a:rPr>
              <a:t>Then: hypothesis generation → testing → convergence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Hypothesis ranking makes the investigation explainable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question is not “what is the RCA?” but “how does the ranking change as evidence arrives?”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235440" y="4389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RANKED HYPOTHESES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806440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700784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RANKED HYPOTHESES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22128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#1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44168" y="21671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F172A"/>
                </a:solidFill>
              </a:rPr>
              <a:t>IP Transport — Router-R21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4709160" y="21671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0.82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30952" y="2148840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76672" y="2199132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LEADING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32688" y="28895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#2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44168" y="28437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F172A"/>
                </a:solidFill>
              </a:rPr>
              <a:t>Mobile Core — UPF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4709160" y="28437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0.61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30952" y="28254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6672" y="2875788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COMPETING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32688" y="35661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#3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44168" y="35204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F172A"/>
                </a:solidFill>
              </a:rPr>
              <a:t>RAN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4709160" y="352044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0.38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30952" y="350215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6672" y="3552444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COMPETING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2688" y="4242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#4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44168" y="41970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F172A"/>
                </a:solidFill>
              </a:rPr>
              <a:t>Infrastructure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4709160" y="419709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0.21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30952" y="4178808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4229100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WEAK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32688" y="49194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#5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44168" y="48737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F172A"/>
                </a:solidFill>
              </a:rPr>
              <a:t>Change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4709160" y="487375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0.12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30952" y="48554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76672" y="490575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WEAK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32688" y="5513832"/>
            <a:ext cx="507492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563270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</a:rPr>
              <a:t>Supporting • Contradicting • Missing evidence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903720" y="1417320"/>
            <a:ext cx="4572000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205472" y="16916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HUMAN VALIDATION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205472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Evidence changes rank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7205472" y="2487168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24928" y="2624328"/>
            <a:ext cx="3337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563EB"/>
                </a:solidFill>
              </a:rPr>
              <a:t>Evidence received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8906256" y="2990088"/>
            <a:ext cx="329184" cy="256032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05472" y="3209544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24928" y="3346704"/>
            <a:ext cx="3337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8B5CF6"/>
                </a:solidFill>
              </a:rPr>
              <a:t>Score update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8906256" y="3712464"/>
            <a:ext cx="329184" cy="256032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05472" y="3931920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24928" y="4069080"/>
            <a:ext cx="3337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563EB"/>
                </a:solidFill>
              </a:rPr>
              <a:t>Rank movement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8906256" y="4434840"/>
            <a:ext cx="329184" cy="256032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05472" y="4654296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24928" y="4791456"/>
            <a:ext cx="3337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D97706"/>
                </a:solidFill>
              </a:rPr>
              <a:t>Falsified / retained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8906256" y="5157216"/>
            <a:ext cx="329184" cy="256032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05472" y="5376672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24928" y="5513832"/>
            <a:ext cx="3337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766E"/>
                </a:solidFill>
              </a:rPr>
              <a:t>Operator validation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7205472" y="55686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64748B"/>
                </a:solidFill>
              </a:rPr>
              <a:t>The backend owns the ranking. Zaki explains and orchestrates the loop.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demonstrations. Three different strengths.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Designed to prove FikraCore is more than a fault-isolation demo.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235440" y="4389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MANAGEMENT DEMOS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15568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pic>
        <p:nvPicPr>
          <p:cNvPr id="6" name="Image 0" descr="/mnt/data/fikracore_demo_use_cases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9004" y="1307592"/>
            <a:ext cx="9163512" cy="51572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1 — Cross-domain service outage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Transport degradation creates downstream Core and RAN symptoms.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235440" y="4389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USE CASE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21792" y="1353312"/>
            <a:ext cx="3703320" cy="46634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367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SCENARIO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5G / mobile-data degradation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523744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A transport fault masquerades as a Core or RAN problem.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429000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38328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</a:rPr>
              <a:t>Transport → N3 packet loss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914400" y="391363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86791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</a:rPr>
              <a:t>Core and RAN generate secondary alarms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914400" y="439826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4352544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</a:rPr>
              <a:t>Healthy signals contradict false candidates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914400" y="5074920"/>
            <a:ext cx="731520" cy="256032"/>
          </a:xfrm>
          <a:prstGeom prst="roundRect">
            <a:avLst>
              <a:gd name="adj" fmla="val 2857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12521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PROVES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54406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64748B"/>
                </a:solidFill>
              </a:rPr>
              <a:t>Correlation • causal reasoning • contradictions • blast radius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4736592" y="2157984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2359152"/>
            <a:ext cx="1179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Transport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9744" y="265176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fault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17336" y="2432304"/>
            <a:ext cx="256032" cy="347472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2157984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359152"/>
            <a:ext cx="1179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N3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19672" y="265176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packet loss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827264" y="2432304"/>
            <a:ext cx="256032" cy="347472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56448" y="2157984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2359152"/>
            <a:ext cx="1179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Core / RAN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265176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symptoms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537192" y="2432304"/>
            <a:ext cx="256032" cy="347472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66376" y="2157984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39528" y="2359152"/>
            <a:ext cx="1179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Customer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939528" y="265176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impact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36592" y="3657600"/>
            <a:ext cx="6382512" cy="1572768"/>
          </a:xfrm>
          <a:prstGeom prst="roundRect">
            <a:avLst>
              <a:gd name="adj" fmla="val 465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3931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D3FC"/>
                </a:solidFill>
              </a:rPr>
              <a:t>Management message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47488" y="4315968"/>
            <a:ext cx="5623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FikraCore does not choose the first or loudest alarm; it reasons across domains and evidence.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2 — Prepaid charging failure becomes a learning loop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system discovers a missing dependency, gets human validation and reuses the knowledge.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235440" y="4389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USE CASE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12064" y="1490472"/>
            <a:ext cx="1993392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673352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723644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SUBSCRIBER REQUEST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67512" y="22402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Data session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51176" y="2048256"/>
            <a:ext cx="246888" cy="32004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98064" y="1490472"/>
            <a:ext cx="1993392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53512" y="1673352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1723644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CORE / GY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53512" y="22402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Charging request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37176" y="2048256"/>
            <a:ext cx="246888" cy="32004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84064" y="1490472"/>
            <a:ext cx="1993392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9512" y="1673352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1723644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OCS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239512" y="22402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Latency / timeout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23176" y="2048256"/>
            <a:ext cx="246888" cy="32004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70064" y="1490472"/>
            <a:ext cx="1993392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25512" y="1673352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71232" y="1723644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GAP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525512" y="22402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Missing relationship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09176" y="2048256"/>
            <a:ext cx="246888" cy="320040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56064" y="1490472"/>
            <a:ext cx="1993392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11512" y="1673352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57232" y="1723644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ENGINEER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811512" y="22402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Validate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" y="3529584"/>
            <a:ext cx="1062532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78992" y="38039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Knowledge-gap moment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" y="413308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FikraCore cannot fully explain the observed charging propagation.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78992" y="4535424"/>
            <a:ext cx="9738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E293B"/>
                </a:solidFill>
              </a:rPr>
              <a:t>→ request next-best evidence  →  engineer validates  →  curated learning  →  validated knowledge returns to FikraCore</a:t>
            </a:r>
            <a:endParaRPr lang="en-US" sz="1070" dirty="0"/>
          </a:p>
        </p:txBody>
      </p:sp>
      <p:sp>
        <p:nvSpPr>
          <p:cNvPr id="33" name="Shape 31"/>
          <p:cNvSpPr/>
          <p:nvPr/>
        </p:nvSpPr>
        <p:spPr>
          <a:xfrm>
            <a:off x="1920240" y="5330952"/>
            <a:ext cx="84582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 w="12700">
            <a:solidFill>
              <a:srgbClr val="B7EF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03120" y="5468112"/>
            <a:ext cx="8092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F766E"/>
                </a:solidFill>
              </a:rPr>
              <a:t>The value is not only resolving the incident — it is improving the next investigation.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3 — Proactive what-if / resilience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Move from reacting to an incident to testing a future failure before it happens.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235440" y="4389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USE CASE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063240" cy="4526280"/>
          </a:xfrm>
          <a:prstGeom prst="roundRect">
            <a:avLst>
              <a:gd name="adj" fmla="val 238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81051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WHAT IF?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50976" y="2432304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 critical aggregation component fails tomorrow.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34440" y="3264408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3314700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PREDICT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" y="3913632"/>
            <a:ext cx="2414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Forward propagation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9264" y="431596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Blast radius • SPOF • resilience gap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969264" y="495604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7DD3FC"/>
                </a:solidFill>
              </a:rPr>
              <a:t>Mitigation options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315968" y="1664208"/>
            <a:ext cx="3063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17136" y="1810512"/>
            <a:ext cx="932688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1860804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AGGREGATION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577840" y="18379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F172A"/>
                </a:solidFill>
              </a:rPr>
              <a:t>RAN sites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5669280" y="2459736"/>
            <a:ext cx="347472" cy="310896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788920"/>
            <a:ext cx="3063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17136" y="2935224"/>
            <a:ext cx="932688" cy="256032"/>
          </a:xfrm>
          <a:prstGeom prst="roundRect">
            <a:avLst>
              <a:gd name="adj" fmla="val 28571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62856" y="2985516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FAILURE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577840" y="296265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F172A"/>
                </a:solidFill>
              </a:rPr>
              <a:t>MPLS / transport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5669280" y="3584448"/>
            <a:ext cx="347472" cy="310896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15968" y="3913632"/>
            <a:ext cx="3063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17136" y="4059936"/>
            <a:ext cx="932688" cy="256032"/>
          </a:xfrm>
          <a:prstGeom prst="roundRect">
            <a:avLst>
              <a:gd name="adj" fmla="val 28571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62856" y="4110228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PROPAGATION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577840" y="40873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F172A"/>
                </a:solidFill>
              </a:rPr>
              <a:t>Core paths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5669280" y="4709160"/>
            <a:ext cx="347472" cy="310896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15968" y="5038344"/>
            <a:ext cx="3063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17136" y="5184648"/>
            <a:ext cx="93268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62856" y="5234940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IMPACT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77840" y="5212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F172A"/>
                </a:solidFill>
              </a:rPr>
              <a:t>Services / customers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7845552" y="1645920"/>
            <a:ext cx="35204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3CF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138160" y="1901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RESILIENCE FINDING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138160" y="22494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Failure surface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138160" y="2843784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02752" y="2798064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E293B"/>
                </a:solidFill>
              </a:rPr>
              <a:t>Shared dependency / SPOF</a:t>
            </a:r>
            <a:endParaRPr lang="en-US" sz="1090" dirty="0"/>
          </a:p>
        </p:txBody>
      </p:sp>
      <p:sp>
        <p:nvSpPr>
          <p:cNvPr id="37" name="Shape 35"/>
          <p:cNvSpPr/>
          <p:nvPr/>
        </p:nvSpPr>
        <p:spPr>
          <a:xfrm>
            <a:off x="8138160" y="3355848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3310128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E293B"/>
                </a:solidFill>
              </a:rPr>
              <a:t>Expected failover path</a:t>
            </a:r>
            <a:endParaRPr lang="en-US" sz="1090" dirty="0"/>
          </a:p>
        </p:txBody>
      </p:sp>
      <p:sp>
        <p:nvSpPr>
          <p:cNvPr id="39" name="Shape 37"/>
          <p:cNvSpPr/>
          <p:nvPr/>
        </p:nvSpPr>
        <p:spPr>
          <a:xfrm>
            <a:off x="8138160" y="386791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02752" y="3822192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E293B"/>
                </a:solidFill>
              </a:rPr>
              <a:t>Affected services</a:t>
            </a:r>
            <a:endParaRPr lang="en-US" sz="1090" dirty="0"/>
          </a:p>
        </p:txBody>
      </p:sp>
      <p:sp>
        <p:nvSpPr>
          <p:cNvPr id="41" name="Shape 39"/>
          <p:cNvSpPr/>
          <p:nvPr/>
        </p:nvSpPr>
        <p:spPr>
          <a:xfrm>
            <a:off x="8138160" y="437997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02752" y="4334256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E293B"/>
                </a:solidFill>
              </a:rPr>
              <a:t>Mitigation choices</a:t>
            </a:r>
            <a:endParaRPr lang="en-US" sz="1090" dirty="0"/>
          </a:p>
        </p:txBody>
      </p:sp>
      <p:sp>
        <p:nvSpPr>
          <p:cNvPr id="43" name="Shape 41"/>
          <p:cNvSpPr/>
          <p:nvPr/>
        </p:nvSpPr>
        <p:spPr>
          <a:xfrm>
            <a:off x="8138160" y="5404104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3E8FF"/>
          </a:solidFill>
          <a:ln w="12700">
            <a:solidFill>
              <a:srgbClr val="E4D4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39328" y="5541264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8B5CF6"/>
                </a:solidFill>
              </a:rPr>
              <a:t>Predict • compare • reduce risk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learning loop turns operational experience into reusable knowledge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FCAPS structures the learning context; validated knowledge returns to the brain.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235440" y="4389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LEARNING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41832" y="1417320"/>
            <a:ext cx="10058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0432" y="1591056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164134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INCIDENT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044952" y="1618488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F172A"/>
                </a:solidFill>
              </a:rPr>
              <a:t>evidence + outcome</a:t>
            </a:r>
            <a:endParaRPr lang="en-US" sz="1110" dirty="0"/>
          </a:p>
        </p:txBody>
      </p:sp>
      <p:sp>
        <p:nvSpPr>
          <p:cNvPr id="9" name="Shape 7"/>
          <p:cNvSpPr/>
          <p:nvPr/>
        </p:nvSpPr>
        <p:spPr>
          <a:xfrm>
            <a:off x="5925312" y="2157984"/>
            <a:ext cx="347472" cy="292608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414016"/>
            <a:ext cx="10058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0432" y="2587752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2638044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HUMAN CORRECTION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044952" y="2615184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F172A"/>
                </a:solidFill>
              </a:rPr>
              <a:t>validate / reject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5925312" y="3154680"/>
            <a:ext cx="347472" cy="292608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" y="3410712"/>
            <a:ext cx="10058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70432" y="3584448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3634740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STRUCTURED EPISODE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044952" y="361188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F172A"/>
                </a:solidFill>
              </a:rPr>
              <a:t>capture what worked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5925312" y="4151376"/>
            <a:ext cx="347472" cy="292608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" y="4407408"/>
            <a:ext cx="10058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70432" y="4581144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16152" y="463143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FCAPS LENS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44952" y="4608576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F172A"/>
                </a:solidFill>
              </a:rPr>
              <a:t>Fault • Change • Acceptance • Performance • Security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5925312" y="5148072"/>
            <a:ext cx="347472" cy="292608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" y="5404104"/>
            <a:ext cx="10058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0432" y="5577840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16152" y="562813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VALIDATED KNOWLEDGE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044952" y="5605272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F172A"/>
                </a:solidFill>
              </a:rPr>
              <a:t>reusable in FikraCore</a:t>
            </a:r>
            <a:endParaRPr lang="en-US" sz="1110" dirty="0"/>
          </a:p>
        </p:txBody>
      </p:sp>
      <p:sp>
        <p:nvSpPr>
          <p:cNvPr id="29" name="Shape 27"/>
          <p:cNvSpPr/>
          <p:nvPr/>
        </p:nvSpPr>
        <p:spPr>
          <a:xfrm>
            <a:off x="1965960" y="5532120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0280" y="5669280"/>
            <a:ext cx="7635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Domain agents learn locally • FikraCore learns globally through validated operational knowledge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FikraCore ecosystem: a foundation that can grow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pitch is intentionally modular: visible capabilities now, broader intelligence next.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235440" y="4389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ECOSYSTEM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68122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pic>
        <p:nvPicPr>
          <p:cNvPr id="6" name="Image 0" descr="/mnt/data/fikra_telecom_intelligence_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96098"/>
            <a:ext cx="6665976" cy="37516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62672" y="1481328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17556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TODAY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955280" y="2121408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Customer + Incident + Trace + Voice experiences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7662672" y="2907792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31821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INTELLIGENCE LAYER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955280" y="354787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0F172A"/>
                </a:solidFill>
              </a:rPr>
              <a:t>Operational Evidence → Correlation → Reasoning → Learning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7662672" y="4334256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0" y="46085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SCALE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955280" y="497433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More domains • more knowledge • more reusable skills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7772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FikraCore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04672" y="148132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 Telecom Brain for the Dark NOC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Understand the evidence. Rank the hypotheses. Validate the decision. Learn from the operation.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824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749040"/>
            <a:ext cx="54864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408736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</a:rPr>
              <a:t>Operational Evidence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2825496" y="4078224"/>
            <a:ext cx="246888" cy="329184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35808" y="374904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824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35808" y="3749040"/>
            <a:ext cx="5486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91256" y="408736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</a:rPr>
              <a:t>Correlation Layer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5038344" y="4078224"/>
            <a:ext cx="246888" cy="329184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8656" y="374904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824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48656" y="3749040"/>
            <a:ext cx="54864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04104" y="408736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</a:rPr>
              <a:t>Reasoning Engine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7251192" y="4078224"/>
            <a:ext cx="246888" cy="329184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61504" y="374904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824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61504" y="3749040"/>
            <a:ext cx="54864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16952" y="408736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</a:rPr>
              <a:t>Validation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9464040" y="4078224"/>
            <a:ext cx="246888" cy="329184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74352" y="374904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824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74352" y="3749040"/>
            <a:ext cx="54864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9800" y="408736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</a:rPr>
              <a:t>Validated Knowledge</a:t>
            </a:r>
            <a:endParaRPr lang="en-US" sz="1110" dirty="0"/>
          </a:p>
        </p:txBody>
      </p:sp>
      <p:sp>
        <p:nvSpPr>
          <p:cNvPr id="26" name="Text 24"/>
          <p:cNvSpPr/>
          <p:nvPr/>
        </p:nvSpPr>
        <p:spPr>
          <a:xfrm>
            <a:off x="9646920" y="59893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Executive pitch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" y="5989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FikraCore  |  Dark NOC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FikraCore — Telecom Intelligence for the Dark NOC</dc:title>
  <dc:subject>FikraCore Executive Pitch</dc:subject>
  <dc:creator>OpenAI</dc:creator>
  <cp:lastModifiedBy>OpenAI</cp:lastModifiedBy>
  <cp:revision>1</cp:revision>
  <dcterms:created xsi:type="dcterms:W3CDTF">2026-09-20T08:47:30Z</dcterms:created>
  <dcterms:modified xsi:type="dcterms:W3CDTF">2026-09-20T08:47:30Z</dcterms:modified>
</cp:coreProperties>
</file>