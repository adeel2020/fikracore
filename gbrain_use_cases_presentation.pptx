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80160" y="1280160"/>
            <a:ext cx="29260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ENTERPRISE TELECOM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Autonomous Telecom Operations
with gbrain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0284C7"/>
                </a:solidFill>
                <a:latin typeface="Segoe UI"/>
              </a:rPr>
              <a:t>Semantic Knowledge Graphs, Multi-Domain Correlation &amp; Deterministic Storytelling</a:t>
            </a:r>
          </a:p>
          <a:p>
            <a:pPr>
              <a:spcBef>
                <a:spcPts val="1600"/>
              </a:spcBef>
            </a:pPr>
            <a:r>
              <a:rPr sz="1300">
                <a:solidFill>
                  <a:srgbClr val="94A3B8"/>
                </a:solidFill>
                <a:latin typeface="Segoe UI"/>
              </a:rPr>
              <a:t>Architecture, Integration Patterns &amp; Production-Grade Implemented Use Cases</a:t>
            </a:r>
          </a:p>
          <a:p>
            <a:pPr>
              <a:spcBef>
                <a:spcPts val="2800"/>
              </a:spcBef>
            </a:pPr>
            <a:r>
              <a:rPr sz="1200" b="1">
                <a:solidFill>
                  <a:srgbClr val="059669"/>
                </a:solidFill>
                <a:latin typeface="Segoe UI"/>
              </a:rPr>
              <a:t>KAgent Platform  |  MARK Intelligent Telecom Assistant  |  2026 Production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The Challenge of Modern Telecom NOC Operations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Why traditional alerting fails and how gbrain transforms cognitive incident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Autonomous Telecom Operations with gbrain | KAgent MARK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14553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DC2626"/>
                </a:solidFill>
              </a:rPr>
              <a:t>The NOC Operational Crisis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Alarm Storms: </a:t>
            </a:r>
            <a:r>
              <a:rPr sz="1100">
                <a:solidFill>
                  <a:srgbClr val="475569"/>
                </a:solidFill>
              </a:rPr>
              <a:t>Over 100k alarms/day across RAN, Core, and Transport silos creating severe alert fatigue.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Fragmented Visibility: </a:t>
            </a:r>
            <a:r>
              <a:rPr sz="1100">
                <a:solidFill>
                  <a:srgbClr val="475569"/>
                </a:solidFill>
              </a:rPr>
              <a:t>Disjointed tools for metrics, logs, tickets, and topology.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Tribal Knowledge: </a:t>
            </a:r>
            <a:r>
              <a:rPr sz="1100">
                <a:solidFill>
                  <a:srgbClr val="475569"/>
                </a:solidFill>
              </a:rPr>
              <a:t>RCA expertise locked in senior engineers' heads rather than machine-executable models.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High MTTR: </a:t>
            </a:r>
            <a:r>
              <a:rPr sz="1100">
                <a:solidFill>
                  <a:srgbClr val="475569"/>
                </a:solidFill>
              </a:rPr>
              <a:t>Hours lost triaging symptoms instead of remediating root causes.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9164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1828800"/>
            <a:ext cx="314553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D97706"/>
                </a:solidFill>
              </a:rPr>
              <a:t>The Flaw of Generic LLMs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Hallucination Risk: </a:t>
            </a:r>
            <a:r>
              <a:rPr sz="1100">
                <a:solidFill>
                  <a:srgbClr val="475569"/>
                </a:solidFill>
              </a:rPr>
              <a:t>Inventing non-existent network functions, wrong alarm causes, or fictitious timestamps.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Context Degradation: </a:t>
            </a:r>
            <a:r>
              <a:rPr sz="1100">
                <a:solidFill>
                  <a:srgbClr val="475569"/>
                </a:solidFill>
              </a:rPr>
              <a:t>Dumping raw telemetry tokens into prompts exhausts context and lowers precision.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Non-Deterministic: </a:t>
            </a:r>
            <a:r>
              <a:rPr sz="1100">
                <a:solidFill>
                  <a:srgbClr val="475569"/>
                </a:solidFill>
              </a:rPr>
              <a:t>Produces different causal conclusions for identical production outages.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Missing Provenance: </a:t>
            </a:r>
            <a:r>
              <a:rPr sz="1100">
                <a:solidFill>
                  <a:srgbClr val="475569"/>
                </a:solidFill>
              </a:rPr>
              <a:t>Cannot trace reasoning steps back to exact Prometheus, Loki, or NMS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9164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828800"/>
            <a:ext cx="314553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59669"/>
                </a:solidFill>
              </a:rPr>
              <a:t>The gbrain Paradigm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Semantic Graph Hub: </a:t>
            </a:r>
            <a:r>
              <a:rPr sz="1100">
                <a:solidFill>
                  <a:srgbClr val="475569"/>
                </a:solidFill>
              </a:rPr>
              <a:t>Maintains explicit graph topology of functions, symptoms, and causal paths.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Deterministic Narratives: </a:t>
            </a:r>
            <a:r>
              <a:rPr sz="1100">
                <a:solidFill>
                  <a:srgbClr val="475569"/>
                </a:solidFill>
              </a:rPr>
              <a:t>Verifiable storytelling backed by structured knowledge graph traversal.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MCP Interoperability: </a:t>
            </a:r>
            <a:r>
              <a:rPr sz="1100">
                <a:solidFill>
                  <a:srgbClr val="475569"/>
                </a:solidFill>
              </a:rPr>
              <a:t>Standardized tool contracts exposed via Model Context Protocol (MCP).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Closed-Loop Learning: </a:t>
            </a:r>
            <a:r>
              <a:rPr sz="1100">
                <a:solidFill>
                  <a:srgbClr val="475569"/>
                </a:solidFill>
              </a:rPr>
              <a:t>FCAPS operational lens continuously updates runbooks and query templates.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Core Principle: Semantic Brain vs. Raw Data Store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Clean separation of concerns guarantees zero data duplication and instant graph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Autonomous Telecom Operations with gbrain | KAgent MARK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Architectural Golden Rule: </a:t>
            </a:r>
            <a:r>
              <a:rPr b="1" sz="1300">
                <a:solidFill>
                  <a:srgbClr val="0F172A"/>
                </a:solidFill>
              </a:rPr>
              <a:t>"gbrain is the semantic telecom brain, NOT the raw source-of-truth store."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</a:rPr>
              <a:t>Raw incidents stay in Incident Registry. Raw telemetry stays in Grafana/LGTM. Raw alarms stay in NMS. gbrain stores compact semantic projections, causal links, and domain ontologies.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Raw Operational Layer (Systems of Record)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Grafana / LGTM Stack: </a:t>
            </a:r>
            <a:r>
              <a:rPr sz="1100">
                <a:solidFill>
                  <a:srgbClr val="475569"/>
                </a:solidFill>
              </a:rPr>
              <a:t>High-velocity metrics (Mimir), logs (Loki), traces (Tempo).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NMS / EMS / OSS: </a:t>
            </a:r>
            <a:r>
              <a:rPr sz="1100">
                <a:solidFill>
                  <a:srgbClr val="475569"/>
                </a:solidFill>
              </a:rPr>
              <a:t>Raw alarm feeds from Nokia NetAct, Ericsson ENM, Huawei U2000.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ITSM &amp; Incident Registry: </a:t>
            </a:r>
            <a:r>
              <a:rPr sz="1100">
                <a:solidFill>
                  <a:srgbClr val="475569"/>
                </a:solidFill>
              </a:rPr>
              <a:t>Remedy / ServiceNow tickets, SLA timers, operator queues.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Data Nature: </a:t>
            </a:r>
            <a:r>
              <a:rPr sz="1100">
                <a:solidFill>
                  <a:srgbClr val="475569"/>
                </a:solidFill>
              </a:rPr>
              <a:t>Petabyte-scale, high-frequency, unlinked, siloed schemas.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803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563EB"/>
                </a:solidFill>
              </a:rPr>
              <a:t>gbrain Semantic Brain (Cognitive Layer)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Compact Projections: </a:t>
            </a:r>
            <a:r>
              <a:rPr sz="1100">
                <a:solidFill>
                  <a:srgbClr val="475569"/>
                </a:solidFill>
              </a:rPr>
              <a:t>Stores semantic summaries (e.g. 'CPU @ 98%', 'RSR breach').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Causal Graph Edges: </a:t>
            </a:r>
            <a:r>
              <a:rPr sz="1100">
                <a:solidFill>
                  <a:srgbClr val="475569"/>
                </a:solidFill>
              </a:rPr>
              <a:t>Explicit links (affects, has-hypothesis, supported-by, targets).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Domain Knowledge: </a:t>
            </a:r>
            <a:r>
              <a:rPr sz="1100">
                <a:solidFill>
                  <a:srgbClr val="475569"/>
                </a:solidFill>
              </a:rPr>
              <a:t>3GPP functional models, standard procedures, service intents.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Deterministic Access: </a:t>
            </a:r>
            <a:r>
              <a:rPr sz="1100">
                <a:solidFill>
                  <a:srgbClr val="475569"/>
                </a:solidFill>
              </a:rPr>
              <a:t>Zero hallucination: only traversed facts enter the narrative.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SYSTEM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Model Context Protocol (MCP) Hub &amp; Transport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Standardized outbound client hub connecting MARK orchestrator to gbrain and external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Autonomous Telecom Operations with gbrain | KAgent MARK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Centralized MCP Client Hub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Single Outbound Gateway: </a:t>
            </a:r>
            <a:r>
              <a:rPr sz="1100">
                <a:solidFill>
                  <a:srgbClr val="475569"/>
                </a:solidFill>
              </a:rPr>
              <a:t>All services (Storyteller, Correlation, RCA) call gbrain through `mcp_client_hub`.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No One-Off Clients: </a:t>
            </a:r>
            <a:r>
              <a:rPr sz="1100">
                <a:solidFill>
                  <a:srgbClr val="475569"/>
                </a:solidFill>
              </a:rPr>
              <a:t>Prevents ad-hoc socket connections and unmonitored API calls across services.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Connector Manifests: </a:t>
            </a:r>
            <a:r>
              <a:rPr sz="1100">
                <a:solidFill>
                  <a:srgbClr val="475569"/>
                </a:solidFill>
              </a:rPr>
              <a:t>YAML definitions governing permissions, rate limits, and audit policies.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End-to-End Tracing: </a:t>
            </a:r>
            <a:r>
              <a:rPr sz="1100">
                <a:solidFill>
                  <a:srgbClr val="475569"/>
                </a:solidFill>
              </a:rPr>
              <a:t>Every tool call produces structured JSON traces for compliance and auditing.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Enterprise Tooling: </a:t>
            </a:r>
            <a:r>
              <a:rPr sz="1100">
                <a:solidFill>
                  <a:srgbClr val="475569"/>
                </a:solidFill>
              </a:rPr>
              <a:t>Exposes status &amp; health via GET /api/jarvis/connectors/status.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2563EB"/>
                </a:solidFill>
              </a:rPr>
              <a:t>Four-Tier Resilient Transport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1. HTTP MCP (Primary): </a:t>
            </a:r>
            <a:r>
              <a:rPr sz="1100">
                <a:solidFill>
                  <a:srgbClr val="475569"/>
                </a:solidFill>
              </a:rPr>
              <a:t>JSON-RPC 2.0 over HTTP (GBRAIN_MCP_URL=http://localhost:3131/mcp) with bearer token auth.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2. Persistent Stdio MCP: </a:t>
            </a:r>
            <a:r>
              <a:rPr sz="1100">
                <a:solidFill>
                  <a:srgbClr val="475569"/>
                </a:solidFill>
              </a:rPr>
              <a:t>Process-bound stdio JSON lines for containerized environments.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3. Subprocess CLI Fallback: </a:t>
            </a:r>
            <a:r>
              <a:rPr sz="1100">
                <a:solidFill>
                  <a:srgbClr val="475569"/>
                </a:solidFill>
              </a:rPr>
              <a:t>Direct execution via `gbrain call &lt;tool&gt;` when daemon process is offline.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4. Embedded In-Memory Graph: </a:t>
            </a:r>
            <a:r>
              <a:rPr sz="1100">
                <a:solidFill>
                  <a:srgbClr val="475569"/>
                </a:solidFill>
              </a:rPr>
              <a:t>Built-in mobile core fixture catalog ensuring zero downtime during network partitioning.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KNOWLEDGE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gbrain Namespace Hierarchy &amp; Entity Model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Structured domain partitioning prevents data pollution and maintains strict ontological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Autonomous Telecom Operations with gbrain | KAgent MARK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F172A"/>
                </a:solidFill>
              </a:rPr>
              <a:t>knowledge/mobile-core/... (Stable Domain Knowledge)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3GPP Architecture: </a:t>
            </a:r>
            <a:r>
              <a:rPr sz="1000">
                <a:solidFill>
                  <a:srgbClr val="475569"/>
                </a:solidFill>
              </a:rPr>
              <a:t>AMF, SMF, UPF, gNodeB, MME, HSS, P-CSCF specifications.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Standard Topology: </a:t>
            </a:r>
            <a:r>
              <a:rPr sz="1000">
                <a:solidFill>
                  <a:srgbClr val="475569"/>
                </a:solidFill>
              </a:rPr>
              <a:t>Interface connections (N1, N2, N3, S1-MME, SGi, Diameter).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Service Procedures: </a:t>
            </a:r>
            <a:r>
              <a:rPr sz="1000">
                <a:solidFill>
                  <a:srgbClr val="475569"/>
                </a:solidFill>
              </a:rPr>
              <a:t>Initial UE Registration, PDU Session Establishment, VoLTE 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observations/mobile-core/... (Semantic Facts)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Projected Alarms: </a:t>
            </a:r>
            <a:r>
              <a:rPr sz="1000">
                <a:solidFill>
                  <a:srgbClr val="475569"/>
                </a:solidFill>
              </a:rPr>
              <a:t>Normalized alarms with domain, severity, and object ID.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KPI Breaches: </a:t>
            </a:r>
            <a:r>
              <a:rPr sz="1000">
                <a:solidFill>
                  <a:srgbClr val="475569"/>
                </a:solidFill>
              </a:rPr>
              <a:t>RSR dropped to 94.7%, 4G_Attach_SR degraded to 88.2%.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Telemetry Evidence: </a:t>
            </a:r>
            <a:r>
              <a:rPr sz="1000">
                <a:solidFill>
                  <a:srgbClr val="475569"/>
                </a:solidFill>
              </a:rPr>
              <a:t>AMF-01 CPU 98%, S1AP message drops, SIP 503 timeouts.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7C3AED"/>
                </a:solidFill>
              </a:rPr>
              <a:t>correlation/ &amp; incidents/... (Reasoning Entities)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Correlation Clusters: </a:t>
            </a:r>
            <a:r>
              <a:rPr sz="1000">
                <a:solidFill>
                  <a:srgbClr val="475569"/>
                </a:solidFill>
              </a:rPr>
              <a:t>Multi-alarm grouping by time, topology, and reachability.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Hypotheses: </a:t>
            </a:r>
            <a:r>
              <a:rPr sz="1000">
                <a:solidFill>
                  <a:srgbClr val="475569"/>
                </a:solidFill>
              </a:rPr>
              <a:t>Plausible causal assertions with confidence scores (0.0 - 1.0).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Decisions &amp; Incidents: </a:t>
            </a:r>
            <a:r>
              <a:rPr sz="1000">
                <a:solidFill>
                  <a:srgbClr val="475569"/>
                </a:solidFill>
              </a:rPr>
              <a:t>Promotion decisions and canonical incident pages.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59669"/>
                </a:solidFill>
              </a:rPr>
              <a:t>storytelling/ &amp; learnings/... (Dissemination &amp; Evolution)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Audience Stories: </a:t>
            </a:r>
            <a:r>
              <a:rPr sz="1000">
                <a:solidFill>
                  <a:srgbClr val="475569"/>
                </a:solidFill>
              </a:rPr>
              <a:t>Executive, NOC technical, and customer-facing incident reports.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Spoken Briefs: </a:t>
            </a:r>
            <a:r>
              <a:rPr sz="1000">
                <a:solidFill>
                  <a:srgbClr val="475569"/>
                </a:solidFill>
              </a:rPr>
              <a:t>Voice-curated summaries stripped of technical syntax.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FCAPS Learnings: </a:t>
            </a:r>
            <a:r>
              <a:rPr sz="1000">
                <a:solidFill>
                  <a:srgbClr val="475569"/>
                </a:solidFill>
              </a:rPr>
              <a:t>Operator-reviewed knowledge preventing recurrence.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USE CASE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Inter- &amp; Intra-Domain Alarm Correlation Engine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Ingesting raw alerts from disparate silos and clustering them into verified incident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Autonomous Telecom Operations with gbrain | KAgent MARK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Correlation Engine Workflow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Multi-Domain Ingestion: </a:t>
            </a:r>
            <a:r>
              <a:rPr sz="1100">
                <a:solidFill>
                  <a:srgbClr val="475569"/>
                </a:solidFill>
              </a:rPr>
              <a:t>Ingests alarms across RAN, Transport, Mobile Core, and Site Power.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Deduplication &amp; Normalization: </a:t>
            </a:r>
            <a:r>
              <a:rPr sz="1100">
                <a:solidFill>
                  <a:srgbClr val="475569"/>
                </a:solidFill>
              </a:rPr>
              <a:t>Removes duplicate events via stable fingerprint hash.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10-Minute Sliding Window: </a:t>
            </a:r>
            <a:r>
              <a:rPr sz="1100">
                <a:solidFill>
                  <a:srgbClr val="475569"/>
                </a:solidFill>
              </a:rPr>
              <a:t>Groups alarms exhibiting temporal co-occurrence.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Topology &amp; Service Traversal: </a:t>
            </a:r>
            <a:r>
              <a:rPr sz="1100">
                <a:solidFill>
                  <a:srgbClr val="475569"/>
                </a:solidFill>
              </a:rPr>
              <a:t>Checks reachability and shared service procedure impact.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Intent Evaluation: </a:t>
            </a:r>
            <a:r>
              <a:rPr sz="1100">
                <a:solidFill>
                  <a:srgbClr val="475569"/>
                </a:solidFill>
              </a:rPr>
              <a:t>Violations of service objectives (e.g. 4G Attach SR) increase candidate score.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gbrain MCP Writer: </a:t>
            </a:r>
            <a:r>
              <a:rPr sz="1100">
                <a:solidFill>
                  <a:srgbClr val="475569"/>
                </a:solidFill>
              </a:rPr>
              <a:t>Upserts clusters, decisions, and hypotheses into gbrain.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563EB"/>
                </a:solidFill>
              </a:rPr>
              <a:t>Outcome Classification &amp; Scope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Three Operational Classifications: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475569"/>
                </a:solidFill>
              </a:rPr>
              <a:t>• Standalone Event: </a:t>
            </a:r>
            <a:r>
              <a:rPr sz="1050">
                <a:solidFill>
                  <a:srgbClr val="475569"/>
                </a:solidFill>
              </a:rPr>
              <a:t>Low severity or isolated alarm; retained for audit, no escalation.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D97706"/>
                </a:solidFill>
              </a:rPr>
              <a:t>• Candidate Incident: </a:t>
            </a:r>
            <a:r>
              <a:rPr sz="1050">
                <a:solidFill>
                  <a:srgbClr val="475569"/>
                </a:solidFill>
              </a:rPr>
              <a:t>Watch cluster gathering telemetry evidence (status: candidate).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DC2626"/>
                </a:solidFill>
              </a:rPr>
              <a:t>• Confirmed Incident: </a:t>
            </a:r>
            <a:r>
              <a:rPr sz="1050">
                <a:solidFill>
                  <a:srgbClr val="475569"/>
                </a:solidFill>
              </a:rPr>
              <a:t>Validated correlation surpassing threshold; promoted for storytelling.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F172A"/>
                </a:solidFill>
              </a:rPr>
              <a:t>Correlation Scope Separation: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• Intra-Domain: </a:t>
            </a:r>
            <a:r>
              <a:rPr sz="1050">
                <a:solidFill>
                  <a:srgbClr val="475569"/>
                </a:solidFill>
              </a:rPr>
              <a:t>Contained inside one network area (e.g. 5G Core AMF-SMF or Power UPS).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• Inter-Domain: </a:t>
            </a:r>
            <a:r>
              <a:rPr sz="1050">
                <a:solidFill>
                  <a:srgbClr val="475569"/>
                </a:solidFill>
              </a:rPr>
              <a:t>Cross-boundary cascade (e.g. Transport jitter causing IMS SIP drops).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USE CASE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Deterministic Incident Storytelling (Data StoryTeller)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Eliminating AI hallucinations by grounding all incident narratives in graph-traversed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Autonomous Telecom Operations with gbrain | KAgent MARK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Graph-Grounded Narration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Zero Hallucination: </a:t>
            </a:r>
            <a:r>
              <a:rPr sz="1100">
                <a:solidFill>
                  <a:srgbClr val="475569"/>
                </a:solidFill>
              </a:rPr>
              <a:t>The LLM never invents network functions, timestamps, or root causes.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MobileCoreKnowledge: </a:t>
            </a:r>
            <a:r>
              <a:rPr sz="1100">
                <a:solidFill>
                  <a:srgbClr val="475569"/>
                </a:solidFill>
              </a:rPr>
              <a:t>Directly queries gbrain through GbrainClient to assemble the verified fact set.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Strict Narrative Schema: </a:t>
            </a:r>
            <a:r>
              <a:rPr sz="1100">
                <a:solidFill>
                  <a:srgbClr val="475569"/>
                </a:solidFill>
              </a:rPr>
              <a:t>Standard 8-part incident structure: Executive Summary, Impact, Leading Hypothesis, Correlation, Grouping Rationale, Causal Chain, Timeline, Still Open.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Auditability: </a:t>
            </a:r>
            <a:r>
              <a:rPr sz="1100">
                <a:solidFill>
                  <a:srgbClr val="475569"/>
                </a:solidFill>
              </a:rPr>
              <a:t>Every statement links back to source alarm IDs, Prometheus metrics, or PCAPs.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563EB"/>
                </a:solidFill>
              </a:rPr>
              <a:t>Tri-Audience Tailored Briefs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7C3AED"/>
                </a:solidFill>
              </a:rPr>
              <a:t>1. Executive Brief: </a:t>
            </a:r>
            <a:r>
              <a:rPr sz="1100">
                <a:solidFill>
                  <a:srgbClr val="475569"/>
                </a:solidFill>
              </a:rPr>
              <a:t>High-level summary of subscriber impact (14.2k users), business revenue risk, SLA breach status, and recovery ETA.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0F172A"/>
                </a:solidFill>
              </a:rPr>
              <a:t>2. NOC Technical Brief: </a:t>
            </a:r>
            <a:r>
              <a:rPr sz="1100">
                <a:solidFill>
                  <a:srgbClr val="475569"/>
                </a:solidFill>
              </a:rPr>
              <a:t>Deep technical diagnosis: node names (AMF-01, PGW-01), specific alarm codes (CPU_HIGH, S1AP_DROP), 3GPP causes (NAS Cause 22), and exact diagnostic steps.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059669"/>
                </a:solidFill>
              </a:rPr>
              <a:t>3. Customer Operations Update: </a:t>
            </a:r>
            <a:r>
              <a:rPr sz="1100">
                <a:solidFill>
                  <a:srgbClr val="475569"/>
                </a:solidFill>
              </a:rPr>
              <a:t>Transparent, jargon-free notifications for enterprise clients and helpdesk teams explaining regional connectivity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IMPLEMENTED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Production Golden Incident Scenarios in gbrain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Four end-to-end multi-domain incident archetypes implemented, validated, and regression-tested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Autonomous Telecom Operations with gbrain | KAgent MARK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1. 5G Core AMF-01 Signaling Overload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Impact: </a:t>
            </a:r>
            <a:r>
              <a:rPr sz="1000">
                <a:solidFill>
                  <a:srgbClr val="475569"/>
                </a:solidFill>
              </a:rPr>
              <a:t>5G Initial UE Registration degradation across Dubai Core DC-1.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Causal Chain: </a:t>
            </a:r>
            <a:r>
              <a:rPr sz="1000">
                <a:solidFill>
                  <a:srgbClr val="475569"/>
                </a:solidFill>
              </a:rPr>
              <a:t>Signaling burst -&gt; AMF CPU @ 98% -&gt; NAS buffer drops (Cause 22).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Remediation &amp; Recovery: </a:t>
            </a:r>
            <a:r>
              <a:rPr sz="1000">
                <a:solidFill>
                  <a:srgbClr val="475569"/>
                </a:solidFill>
              </a:rPr>
              <a:t>Scaled AMF worker pods from 4 to 8; RSR recovered from 94.7% to 99.9%.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2. LTE Attach &amp; S1-MME Path Degradation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Impact: </a:t>
            </a:r>
            <a:r>
              <a:rPr sz="1000">
                <a:solidFill>
                  <a:srgbClr val="475569"/>
                </a:solidFill>
              </a:rPr>
              <a:t>14,200 mobile subscribers across Dubai North eNodeBs.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Multi-Node Telemetry: </a:t>
            </a:r>
            <a:r>
              <a:rPr sz="1000">
                <a:solidFill>
                  <a:srgbClr val="475569"/>
                </a:solidFill>
              </a:rPr>
              <a:t>MME-01 attach rejects + HSS-01 Diameter ULR timeouts + eNodeB drops.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Leading Hypothesis: </a:t>
            </a:r>
            <a:r>
              <a:rPr sz="1000">
                <a:solidFill>
                  <a:srgbClr val="475569"/>
                </a:solidFill>
              </a:rPr>
              <a:t>S1-MME transport path degradation causing control-plane packet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7C3AED"/>
                </a:solidFill>
              </a:rPr>
              <a:t>3. Cross-Domain IMS Voice Call Setup (CSSR)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Cross-Boundary Cascade: </a:t>
            </a:r>
            <a:r>
              <a:rPr sz="1000">
                <a:solidFill>
                  <a:srgbClr val="475569"/>
                </a:solidFill>
              </a:rPr>
              <a:t>Correlates RAN (eNodeB-22), IMS (P-CSCF), and Backhaul.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Correlated Alarms: </a:t>
            </a:r>
            <a:r>
              <a:rPr sz="1000">
                <a:solidFill>
                  <a:srgbClr val="475569"/>
                </a:solidFill>
              </a:rPr>
              <a:t>RRC Setup Failures + SIP INVITE drop spike + Link Jitter.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Intent State: </a:t>
            </a:r>
            <a:r>
              <a:rPr sz="1000">
                <a:solidFill>
                  <a:srgbClr val="475569"/>
                </a:solidFill>
              </a:rPr>
              <a:t>Service intent `voice_call_drop` violated; correlation score: 92.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4. Gi-LAN Bottleneck &amp; SGi Data Disruption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User-Plane Outage: </a:t>
            </a:r>
            <a:r>
              <a:rPr sz="1000">
                <a:solidFill>
                  <a:srgbClr val="475569"/>
                </a:solidFill>
              </a:rPr>
              <a:t>Mobile broadband packet forwarding collapse.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Evidence Chain: </a:t>
            </a:r>
            <a:r>
              <a:rPr sz="1000">
                <a:solidFill>
                  <a:srgbClr val="475569"/>
                </a:solidFill>
              </a:rPr>
              <a:t>PGW-01 throughput drop + NAT firewall session exhaustion + router discards.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RCA Diagnosis: </a:t>
            </a:r>
            <a:r>
              <a:rPr sz="1000">
                <a:solidFill>
                  <a:srgbClr val="475569"/>
                </a:solidFill>
              </a:rPr>
              <a:t>Gi-LAN perimeter NAT table saturation, not 3GPP Core failure.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USE CASE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Visual Explanation &amp; Interactive Investigation Workspace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Translating complex graph relationships into actionable visual widgets for NOC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Autonomous Telecom Operations with gbrain | KAgent MARK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Visual Explanation Service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Dedicated Visual Engine: </a:t>
            </a:r>
            <a:r>
              <a:rPr sz="1100">
                <a:solidFill>
                  <a:srgbClr val="475569"/>
                </a:solidFill>
              </a:rPr>
              <a:t>`VisualExplanationService` translates `gbrain` subgraphs into standardized frontend JSON contracts.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Inline Story Visuals: </a:t>
            </a:r>
            <a:r>
              <a:rPr sz="1100">
                <a:solidFill>
                  <a:srgbClr val="475569"/>
                </a:solidFill>
              </a:rPr>
              <a:t>Embedded directly inside chat response cards alongside text.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Expandable Evidence Drawer: </a:t>
            </a:r>
            <a:r>
              <a:rPr sz="1100">
                <a:solidFill>
                  <a:srgbClr val="475569"/>
                </a:solidFill>
              </a:rPr>
              <a:t>One-click inspection of supporting raw Prometheus/Loki claims without cluttering the chat view.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HUD Highlight Orb: </a:t>
            </a:r>
            <a:r>
              <a:rPr sz="1100">
                <a:solidFill>
                  <a:srgbClr val="475569"/>
                </a:solidFill>
              </a:rPr>
              <a:t>Visual pulse indicating active incident severity in the MARK HUD.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563EB"/>
                </a:solidFill>
              </a:rPr>
              <a:t>Interactive NOC Investigation Canvas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Topology Blast Radius: </a:t>
            </a:r>
            <a:r>
              <a:rPr sz="1100">
                <a:solidFill>
                  <a:srgbClr val="475569"/>
                </a:solidFill>
              </a:rPr>
              <a:t>Interactive node graph highlighting root node, cascade path, and unaffected neighboring nodes.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Side-by-Side Telemetry: </a:t>
            </a:r>
            <a:r>
              <a:rPr sz="1100">
                <a:solidFill>
                  <a:srgbClr val="475569"/>
                </a:solidFill>
              </a:rPr>
              <a:t>Synchronized time-series metrics from Grafana pinned next to graph nodes.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Operator Action Strip: </a:t>
            </a:r>
            <a:r>
              <a:rPr sz="1100">
                <a:solidFill>
                  <a:srgbClr val="475569"/>
                </a:solidFill>
              </a:rPr>
              <a:t>Dynamic action buttons (Acknowledge, Assign, Suppress, Merge, Scale Out) bound to the selected incident ID.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Full Audit Trail: </a:t>
            </a:r>
            <a:r>
              <a:rPr sz="1100">
                <a:solidFill>
                  <a:srgbClr val="475569"/>
                </a:solidFill>
              </a:rPr>
              <a:t>Records every operator interaction and state change in Incident Registry.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USE CASE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Mark Conversational Assistant &amp; Curated Voice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Hands-free operations in the NOC: low-latency speech synthesis tailored for operational dialogue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Autonomous Telecom Operations with gbrain | KAgent MARK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8686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7C3AED"/>
                </a:solidFill>
              </a:rPr>
              <a:t>Core Voice Rule: </a:t>
            </a:r>
            <a:r>
              <a:rPr b="1" sz="1300">
                <a:solidFill>
                  <a:srgbClr val="0F172A"/>
                </a:solidFill>
              </a:rPr>
              <a:t>"Brain content is context, NOT a script to read aloud."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</a:rPr>
              <a:t>Mark never reads raw markdown, incident slugs, UUIDs, punctuation, bullet characters, or table syntax over voice. Technical details stay on screen; speech is conversational and brief.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Voice Curation Pipeline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0F172A"/>
                </a:solidFill>
              </a:rPr>
              <a:t>• Dual-Payload Generation: </a:t>
            </a:r>
            <a:r>
              <a:rPr sz="1100">
                <a:solidFill>
                  <a:srgbClr val="475569"/>
                </a:solidFill>
              </a:rPr>
              <a:t>Every turn outputs a rich technical written report and a separate spoken brief.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0F172A"/>
                </a:solidFill>
              </a:rPr>
              <a:t>• VAD Noise Rejection: </a:t>
            </a:r>
            <a:r>
              <a:rPr sz="1100">
                <a:solidFill>
                  <a:srgbClr val="475569"/>
                </a:solidFill>
              </a:rPr>
              <a:t>Silero VAD thresholding (0.70) ignores noisy NOC background chatter.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0F172A"/>
                </a:solidFill>
              </a:rPr>
              <a:t>• Streaming WebSocket: </a:t>
            </a:r>
            <a:r>
              <a:rPr sz="1100">
                <a:solidFill>
                  <a:srgbClr val="475569"/>
                </a:solidFill>
              </a:rPr>
              <a:t>Sub-400ms audio delivery via ElevenLabs streaming synthesis.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803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7C3AED"/>
                </a:solidFill>
              </a:rPr>
              <a:t>Example: Written vs. Spoken Output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475569"/>
                </a:solidFill>
              </a:rPr>
              <a:t>On-Screen Written Report (Full Technical):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0F172A"/>
                </a:solidFill>
              </a:rPr>
              <a:t># Incident story — incidents/mobile-core/amf-overload-2026-08-09
Status: resolved | Severity: SEV-2 | Score: 0.94
Root cause: AMF-01 CPU saturation (98%) on worker process 104.
Remediation: Pod replica count increased 4 -&gt; 8.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7C3AED"/>
                </a:solidFill>
              </a:rPr>
              <a:t>Curated Spoken Voice Brief (Audio Output):</a:t>
            </a:r>
          </a:p>
          <a:p>
            <a:pPr>
              <a:spcBef>
                <a:spcPts val="200"/>
              </a:spcBef>
            </a:pPr>
            <a:r>
              <a:rPr sz="1050" i="1">
                <a:solidFill>
                  <a:srgbClr val="0F172A"/>
                </a:solidFill>
              </a:rPr>
              <a:t>"UE Registration is currently severity two and resolved. The confirmed root cause was AMF-01 CPU saturation from a registration signaling burst. Capacity was scaled out and service recovered."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USE CASES 5 &amp;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RCA Triage Advisory &amp; Live Telemetry Projection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Hypothesis-driven root cause analysis coupled with high-speed Grafana LGTM data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Autonomous Telecom Operations with gbrain | KAgent MARK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Use Case 5: Root Cause Analysis (RCA)</a:t>
            </a:r>
          </a:p>
          <a:p>
            <a:pPr>
              <a:spcBef>
                <a:spcPts val="900"/>
              </a:spcBef>
            </a:pPr>
            <a:r>
              <a:rPr b="1" sz="1050">
                <a:solidFill>
                  <a:srgbClr val="0F172A"/>
                </a:solidFill>
              </a:rPr>
              <a:t>• Hypothesis Engine: </a:t>
            </a:r>
            <a:r>
              <a:rPr sz="1050">
                <a:solidFill>
                  <a:srgbClr val="475569"/>
                </a:solidFill>
              </a:rPr>
              <a:t>Evaluates candidate causal explanations against confirmed graph evidence.</a:t>
            </a:r>
          </a:p>
          <a:p>
            <a:pPr>
              <a:spcBef>
                <a:spcPts val="900"/>
              </a:spcBef>
            </a:pPr>
            <a:r>
              <a:rPr b="1" sz="1050">
                <a:solidFill>
                  <a:srgbClr val="0F172A"/>
                </a:solidFill>
              </a:rPr>
              <a:t>• Confidence Scoring: </a:t>
            </a:r>
            <a:r>
              <a:rPr sz="1050">
                <a:solidFill>
                  <a:srgbClr val="475569"/>
                </a:solidFill>
              </a:rPr>
              <a:t>Scores hypotheses (0.0 to 1.0) based on metric alignment, topology, and alarms.</a:t>
            </a:r>
          </a:p>
          <a:p>
            <a:pPr>
              <a:spcBef>
                <a:spcPts val="900"/>
              </a:spcBef>
            </a:pPr>
            <a:r>
              <a:rPr b="1" sz="1050">
                <a:solidFill>
                  <a:srgbClr val="0F172A"/>
                </a:solidFill>
              </a:rPr>
              <a:t>• Fact vs. Inference: </a:t>
            </a:r>
            <a:r>
              <a:rPr sz="1050">
                <a:solidFill>
                  <a:srgbClr val="475569"/>
                </a:solidFill>
              </a:rPr>
              <a:t>Explicitly separates confirmed facts from working inferences.</a:t>
            </a:r>
          </a:p>
          <a:p>
            <a:pPr>
              <a:spcBef>
                <a:spcPts val="900"/>
              </a:spcBef>
            </a:pPr>
            <a:r>
              <a:rPr b="1" sz="1050">
                <a:solidFill>
                  <a:srgbClr val="0F172A"/>
                </a:solidFill>
              </a:rPr>
              <a:t>• Diagnostic Next Steps: </a:t>
            </a:r>
            <a:r>
              <a:rPr sz="1050">
                <a:solidFill>
                  <a:srgbClr val="475569"/>
                </a:solidFill>
              </a:rPr>
              <a:t>Suggests the exact next test or command needed to confirm unproven hypotheses.</a:t>
            </a:r>
          </a:p>
          <a:p>
            <a:pPr>
              <a:spcBef>
                <a:spcPts val="900"/>
              </a:spcBef>
            </a:pPr>
            <a:r>
              <a:rPr b="1" sz="1050">
                <a:solidFill>
                  <a:srgbClr val="0F172A"/>
                </a:solidFill>
              </a:rPr>
              <a:t>• Remediation Advisory: </a:t>
            </a:r>
            <a:r>
              <a:rPr sz="1050">
                <a:solidFill>
                  <a:srgbClr val="475569"/>
                </a:solidFill>
              </a:rPr>
              <a:t>Proposes approved MOPs (Method of Procedure) with human approval gates.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563EB"/>
                </a:solidFill>
              </a:rPr>
              <a:t>Use Case 6: Telemetry Evidence Projection</a:t>
            </a:r>
          </a:p>
          <a:p>
            <a:pPr>
              <a:spcBef>
                <a:spcPts val="900"/>
              </a:spcBef>
            </a:pPr>
            <a:r>
              <a:rPr b="1" sz="1050">
                <a:solidFill>
                  <a:srgbClr val="0F172A"/>
                </a:solidFill>
              </a:rPr>
              <a:t>• Grafana MCP Integration: </a:t>
            </a:r>
            <a:r>
              <a:rPr sz="1050">
                <a:solidFill>
                  <a:srgbClr val="475569"/>
                </a:solidFill>
              </a:rPr>
              <a:t>Connects Mark directly to Prometheus metrics, Loki logs, and Tempo traces via MCP.</a:t>
            </a:r>
          </a:p>
          <a:p>
            <a:pPr>
              <a:spcBef>
                <a:spcPts val="900"/>
              </a:spcBef>
            </a:pPr>
            <a:r>
              <a:rPr b="1" sz="1050">
                <a:solidFill>
                  <a:srgbClr val="0F172A"/>
                </a:solidFill>
              </a:rPr>
              <a:t>• Compact Projections: </a:t>
            </a:r>
            <a:r>
              <a:rPr sz="1050">
                <a:solidFill>
                  <a:srgbClr val="475569"/>
                </a:solidFill>
              </a:rPr>
              <a:t>Projects only salient threshold breaches into gbrain (`grafana/*` pages), avoiding database bloat.</a:t>
            </a:r>
          </a:p>
          <a:p>
            <a:pPr>
              <a:spcBef>
                <a:spcPts val="900"/>
              </a:spcBef>
            </a:pPr>
            <a:r>
              <a:rPr b="1" sz="1050">
                <a:solidFill>
                  <a:srgbClr val="0F172A"/>
                </a:solidFill>
              </a:rPr>
              <a:t>• On-Demand Enrichment: </a:t>
            </a:r>
            <a:r>
              <a:rPr sz="1050">
                <a:solidFill>
                  <a:srgbClr val="475569"/>
                </a:solidFill>
              </a:rPr>
              <a:t>Storyteller queries live Grafana telemetry on demand when `include_live_telemetry` is requested.</a:t>
            </a:r>
          </a:p>
          <a:p>
            <a:pPr>
              <a:spcBef>
                <a:spcPts val="900"/>
              </a:spcBef>
            </a:pPr>
            <a:r>
              <a:rPr b="1" sz="1050">
                <a:solidFill>
                  <a:srgbClr val="0F172A"/>
                </a:solidFill>
              </a:rPr>
              <a:t>• Bidirectional Provenance: </a:t>
            </a:r>
            <a:r>
              <a:rPr sz="1050">
                <a:solidFill>
                  <a:srgbClr val="475569"/>
                </a:solidFill>
              </a:rPr>
              <a:t>Graph claims embed direct deep-links to Grafana dashboard time windows.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USE CASE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FCAPS Closed-Loop Learning &amp; Knowledge Evolution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Transforming resolved operational incidents into durable enterprise knowledge and runbooks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Autonomous Telecom Operations with gbrain | KAgent MARK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0540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The FCAPS Operational Lens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F - Fault: </a:t>
            </a:r>
            <a:r>
              <a:rPr sz="1050">
                <a:solidFill>
                  <a:srgbClr val="475569"/>
                </a:solidFill>
              </a:rPr>
              <a:t>Alarms, link down, crash loops, timeouts.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C - Configuration: </a:t>
            </a:r>
            <a:r>
              <a:rPr sz="1050">
                <a:solidFill>
                  <a:srgbClr val="475569"/>
                </a:solidFill>
              </a:rPr>
              <a:t>Change requests, MOP execution, rollbacks.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A - Accounting: </a:t>
            </a:r>
            <a:r>
              <a:rPr sz="1050">
                <a:solidFill>
                  <a:srgbClr val="475569"/>
                </a:solidFill>
              </a:rPr>
              <a:t>Billing, charging gateway, quota limits.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P - Performance: </a:t>
            </a:r>
            <a:r>
              <a:rPr sz="1050">
                <a:solidFill>
                  <a:srgbClr val="475569"/>
                </a:solidFill>
              </a:rPr>
              <a:t>Throughput, latency, CSSR, CPU saturation.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S - Security: </a:t>
            </a:r>
            <a:r>
              <a:rPr sz="1050">
                <a:solidFill>
                  <a:srgbClr val="475569"/>
                </a:solidFill>
              </a:rPr>
              <a:t>Auth anomalies, certificate expiry, DDoS.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9164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828800"/>
            <a:ext cx="30540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563EB"/>
                </a:solidFill>
              </a:rPr>
              <a:t>Post-Incident Enrichment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Operator Feedback Loop: </a:t>
            </a:r>
            <a:r>
              <a:rPr sz="1050">
                <a:solidFill>
                  <a:srgbClr val="475569"/>
                </a:solidFill>
              </a:rPr>
              <a:t>NOC operators review and validate incident resolutions.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Gap Identification: </a:t>
            </a:r>
            <a:r>
              <a:rPr sz="1050">
                <a:solidFill>
                  <a:srgbClr val="475569"/>
                </a:solidFill>
              </a:rPr>
              <a:t>Detects missing telemetry metrics or incomplete alarm definitions.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Runbook Candidates: </a:t>
            </a:r>
            <a:r>
              <a:rPr sz="1050">
                <a:solidFill>
                  <a:srgbClr val="475569"/>
                </a:solidFill>
              </a:rPr>
              <a:t>Automatically proposes updated diagnostic runbooks in `learnings/`.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Review Gates: </a:t>
            </a:r>
            <a:r>
              <a:rPr sz="1050">
                <a:solidFill>
                  <a:srgbClr val="475569"/>
                </a:solidFill>
              </a:rPr>
              <a:t>Learnings require senior engineer signoff before becoming permanent knowledge.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9164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828800"/>
            <a:ext cx="30540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59669"/>
                </a:solidFill>
              </a:rPr>
              <a:t>Durable Knowledge Evolution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Preventing Recurrence: </a:t>
            </a:r>
            <a:r>
              <a:rPr sz="1050">
                <a:solidFill>
                  <a:srgbClr val="475569"/>
                </a:solidFill>
              </a:rPr>
              <a:t>Future correlation runs match known past incident signatures instantly.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Query Improvement: </a:t>
            </a:r>
            <a:r>
              <a:rPr sz="1050">
                <a:solidFill>
                  <a:srgbClr val="475569"/>
                </a:solidFill>
              </a:rPr>
              <a:t>Generates optimized PromQL/LogQL queries for emerging failure modes.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Asset Health Index: </a:t>
            </a:r>
            <a:r>
              <a:rPr sz="1050">
                <a:solidFill>
                  <a:srgbClr val="475569"/>
                </a:solidFill>
              </a:rPr>
              <a:t>Continuously refines component MTBF and risk profiles.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Autonomous Improvement: </a:t>
            </a:r>
            <a:r>
              <a:rPr sz="1050">
                <a:solidFill>
                  <a:srgbClr val="475569"/>
                </a:solidFill>
              </a:rPr>
              <a:t>System evolves with every shift without software code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CAPABILITY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Summary of Implemented gbrain Capabilities &amp; Services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Comprehensive overview of services, connectors, data consumed, and operational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Autonomous Telecom Operations with gbrain | KAgent MARK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Implemented Service Capabilities in KAgent / MARK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2563EB"/>
                </a:solidFill>
              </a:rPr>
              <a:t>• Correlation Service: </a:t>
            </a:r>
            <a:r>
              <a:rPr sz="1100">
                <a:solidFill>
                  <a:srgbClr val="475569"/>
                </a:solidFill>
              </a:rPr>
              <a:t>Groups alarms/KPIs via time-window, topology, and service intent. Writes correlation clusters &amp; decisions to gbrain.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7C3AED"/>
                </a:solidFill>
              </a:rPr>
              <a:t>• Storytelling Service: </a:t>
            </a:r>
            <a:r>
              <a:rPr sz="1100">
                <a:solidFill>
                  <a:srgbClr val="475569"/>
                </a:solidFill>
              </a:rPr>
              <a:t>Traverses gbrain graph to produce deterministic written stories, executive briefs, customer updates, and spoken audio.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59669"/>
                </a:solidFill>
              </a:rPr>
              <a:t>• Visual Explanation Service: </a:t>
            </a:r>
            <a:r>
              <a:rPr sz="1100">
                <a:solidFill>
                  <a:srgbClr val="475569"/>
                </a:solidFill>
              </a:rPr>
              <a:t>Converts gbrain incident graphs into visual widgets, HUD highlight orbs, evidence drawers, and mini-canvas investigation views.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D97706"/>
                </a:solidFill>
              </a:rPr>
              <a:t>• Telemetry Evidence Service: </a:t>
            </a:r>
            <a:r>
              <a:rPr sz="1100">
                <a:solidFill>
                  <a:srgbClr val="475569"/>
                </a:solidFill>
              </a:rPr>
              <a:t>Bridges Grafana LGTM with gbrain via MCP Hub, extracting facts and maintaining bidirectional deep-link provenance.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DC2626"/>
                </a:solidFill>
              </a:rPr>
              <a:t>• RCA &amp; Triage Service: </a:t>
            </a:r>
            <a:r>
              <a:rPr sz="1100">
                <a:solidFill>
                  <a:srgbClr val="475569"/>
                </a:solidFill>
              </a:rPr>
              <a:t>Generates scored causal hypotheses, differentiates facts from inferences, and formulates diagnostic next steps.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284C7"/>
                </a:solidFill>
              </a:rPr>
              <a:t>• FCAPS Learning Service: </a:t>
            </a:r>
            <a:r>
              <a:rPr sz="1100">
                <a:solidFill>
                  <a:srgbClr val="475569"/>
                </a:solidFill>
              </a:rPr>
              <a:t>Applies 5-dimension operational lens to capture reviewed learnings, playbook candidates, and query templates in gbrain.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OPERATIONAL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Quantified Business Value &amp; ROI for Telecom Operators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Segoe UI"/>
              </a:rPr>
              <a:t>Realizing dramatic MTTR reductions, alert fatigue elimination, and total reporting auditability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Autonomous Telecom Operations with gbrain | KAgent MARK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468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2563EB"/>
                </a:solidFill>
              </a:rPr>
              <a:t>-75%</a:t>
            </a:r>
          </a:p>
          <a:p>
            <a:r>
              <a:rPr b="1" sz="1300">
                <a:solidFill>
                  <a:srgbClr val="0F172A"/>
                </a:solidFill>
              </a:rPr>
              <a:t>MTTR Reduction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75569"/>
                </a:solidFill>
              </a:rPr>
              <a:t>• Triages root causes in seconds instead of hours.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75569"/>
                </a:solidFill>
              </a:rPr>
              <a:t>• Automates multi-domain correlation across Core, RAN, and Transport.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75569"/>
                </a:solidFill>
              </a:rPr>
              <a:t>• Immediate diagnostic guidance for tier-1 NOC engineers.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91640"/>
            <a:ext cx="2468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059669"/>
                </a:solidFill>
              </a:rPr>
              <a:t>-90%</a:t>
            </a:r>
          </a:p>
          <a:p>
            <a:r>
              <a:rPr b="1" sz="1300">
                <a:solidFill>
                  <a:srgbClr val="0F172A"/>
                </a:solidFill>
              </a:rPr>
              <a:t>Alert Fatigue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75569"/>
                </a:solidFill>
              </a:rPr>
              <a:t>• Suppresses redundant symptom alarms into single incidents.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75569"/>
                </a:solidFill>
              </a:rPr>
              <a:t>• Separates standalone noise from critical promotions.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75569"/>
                </a:solidFill>
              </a:rPr>
              <a:t>• Prevents alarm storms during fiber cuts or power outages.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2468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7C3AED"/>
                </a:solidFill>
              </a:rPr>
              <a:t>100%</a:t>
            </a:r>
          </a:p>
          <a:p>
            <a:r>
              <a:rPr b="1" sz="1300">
                <a:solidFill>
                  <a:srgbClr val="0F172A"/>
                </a:solidFill>
              </a:rPr>
              <a:t>Deterministic Trust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75569"/>
                </a:solidFill>
              </a:rPr>
              <a:t>• Zero AI hallucination in mission-critical NOC narratives.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75569"/>
                </a:solidFill>
              </a:rPr>
              <a:t>• Complete audit trail from claim to Prometheus/Loki records.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75569"/>
                </a:solidFill>
              </a:rPr>
              <a:t>• Compliant with telecom regulatory and SLA audit mandates.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91640"/>
            <a:ext cx="2468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D97706"/>
                </a:solidFill>
              </a:rPr>
              <a:t>3x</a:t>
            </a:r>
          </a:p>
          <a:p>
            <a:r>
              <a:rPr b="1" sz="1300">
                <a:solidFill>
                  <a:srgbClr val="0F172A"/>
                </a:solidFill>
              </a:rPr>
              <a:t>NOC Efficiency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75569"/>
                </a:solidFill>
              </a:rPr>
              <a:t>• Hands-free voice querying for incident commanders.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75569"/>
                </a:solidFill>
              </a:rPr>
              <a:t>• Automated executive and customer notification generation.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475569"/>
                </a:solidFill>
              </a:rPr>
              <a:t>• Faster shift handovers with persistent incident storytelling.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1887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The Future of Autonomous Telecom with gbrain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0284C7"/>
                </a:solidFill>
                <a:latin typeface="Segoe UI"/>
              </a:rPr>
              <a:t>Next Development Horizons on the KAgent Platform</a:t>
            </a:r>
          </a:p>
          <a:p>
            <a:pPr>
              <a:spcBef>
                <a:spcPts val="1400"/>
              </a:spcBef>
            </a:pPr>
            <a:r>
              <a:rPr b="1" sz="1200">
                <a:solidFill>
                  <a:srgbClr val="FFFFFF"/>
                </a:solidFill>
                <a:latin typeface="Segoe UI"/>
              </a:rPr>
              <a:t>• Autonomous Closed-Loop Remediation: </a:t>
            </a:r>
            <a:r>
              <a:rPr sz="1200">
                <a:solidFill>
                  <a:srgbClr val="94A3B8"/>
                </a:solidFill>
                <a:latin typeface="Segoe UI"/>
              </a:rPr>
              <a:t>Linking gbrain root cause decisions to approved Automation Engine playbooks with canary rollback safety.</a:t>
            </a:r>
          </a:p>
          <a:p>
            <a:pPr>
              <a:spcBef>
                <a:spcPts val="1400"/>
              </a:spcBef>
            </a:pPr>
            <a:r>
              <a:rPr b="1" sz="1200">
                <a:solidFill>
                  <a:srgbClr val="FFFFFF"/>
                </a:solidFill>
                <a:latin typeface="Segoe UI"/>
              </a:rPr>
              <a:t>• Audio-Visual Synchronized Playback: </a:t>
            </a:r>
            <a:r>
              <a:rPr sz="1200">
                <a:solidFill>
                  <a:srgbClr val="94A3B8"/>
                </a:solidFill>
                <a:latin typeface="Segoe UI"/>
              </a:rPr>
              <a:t>Claim-level visual highlight synchronization with streaming spoken audio briefs in Mark HUD.</a:t>
            </a:r>
          </a:p>
          <a:p>
            <a:pPr>
              <a:spcBef>
                <a:spcPts val="1400"/>
              </a:spcBef>
            </a:pPr>
            <a:r>
              <a:rPr b="1" sz="1200">
                <a:solidFill>
                  <a:srgbClr val="FFFFFF"/>
                </a:solidFill>
                <a:latin typeface="Segoe UI"/>
              </a:rPr>
              <a:t>• Live Digital Twin Ingestion: </a:t>
            </a:r>
            <a:r>
              <a:rPr sz="1200">
                <a:solidFill>
                  <a:srgbClr val="94A3B8"/>
                </a:solidFill>
                <a:latin typeface="Segoe UI"/>
              </a:rPr>
              <a:t>Real-time topology synchronization streaming from network discovery engines into gbrain.</a:t>
            </a:r>
          </a:p>
          <a:p>
            <a:pPr>
              <a:spcBef>
                <a:spcPts val="1400"/>
              </a:spcBef>
            </a:pPr>
            <a:r>
              <a:rPr b="1" sz="1200">
                <a:solidFill>
                  <a:srgbClr val="FFFFFF"/>
                </a:solidFill>
                <a:latin typeface="Segoe UI"/>
              </a:rPr>
              <a:t>• Multi-Operator Federated Knowledge: </a:t>
            </a:r>
            <a:r>
              <a:rPr sz="1200">
                <a:solidFill>
                  <a:srgbClr val="94A3B8"/>
                </a:solidFill>
                <a:latin typeface="Segoe UI"/>
              </a:rPr>
              <a:t>Cross-network anomaly pattern exchange without leaking confidential subscriber metadata.</a:t>
            </a:r>
          </a:p>
          <a:p>
            <a:pPr>
              <a:spcBef>
                <a:spcPts val="2400"/>
              </a:spcBef>
            </a:pPr>
            <a:r>
              <a:rPr sz="1300" b="1">
                <a:solidFill>
                  <a:srgbClr val="059669"/>
                </a:solidFill>
                <a:latin typeface="Segoe UI"/>
              </a:rPr>
              <a:t>Thank You  |  Q&amp;A  |  adeel@kagent.dev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